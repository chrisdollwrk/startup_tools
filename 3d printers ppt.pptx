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20792"/>
    <p:restoredTop sz="94708"/>
  </p:normalViewPr>
  <p:slideViewPr>
    <p:cSldViewPr snapToGrid="0">
      <p:cViewPr varScale="1">
        <p:scale>
          <a:sx n="92" d="100"/>
          <a:sy n="92" d="100"/>
        </p:scale>
        <p:origin x="192"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1/11/26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3096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1/11/26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91130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1/11/26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5644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1/11/26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96418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1/11/26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0369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1/11/26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85559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1/11/26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25586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1/11/26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57591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1/11/26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85913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1/11/26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98696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1/11/26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3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1/11/26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305083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horoptor">
            <a:extLst>
              <a:ext uri="{FF2B5EF4-FFF2-40B4-BE49-F238E27FC236}">
                <a16:creationId xmlns:a16="http://schemas.microsoft.com/office/drawing/2014/main" id="{F62DF04D-88FF-AD4D-8863-BF2724767EAE}"/>
              </a:ext>
            </a:extLst>
          </p:cNvPr>
          <p:cNvPicPr>
            <a:picLocks noChangeAspect="1"/>
          </p:cNvPicPr>
          <p:nvPr/>
        </p:nvPicPr>
        <p:blipFill>
          <a:blip r:embed="rId2">
            <a:alphaModFix amt="40000"/>
          </a:blip>
          <a:srcRect t="15732"/>
          <a:stretch>
            <a:fillRect/>
          </a:stretch>
        </p:blipFill>
        <p:spPr>
          <a:xfrm>
            <a:off x="20" y="152"/>
            <a:ext cx="12191980" cy="6857848"/>
          </a:xfrm>
          <a:prstGeom prst="rect">
            <a:avLst/>
          </a:prstGeom>
        </p:spPr>
      </p:pic>
      <p:sp>
        <p:nvSpPr>
          <p:cNvPr id="2" name="Title 1">
            <a:extLst>
              <a:ext uri="{FF2B5EF4-FFF2-40B4-BE49-F238E27FC236}">
                <a16:creationId xmlns:a16="http://schemas.microsoft.com/office/drawing/2014/main" id="{71F6C925-E7BF-083A-B276-65BA1F8B7434}"/>
              </a:ext>
            </a:extLst>
          </p:cNvPr>
          <p:cNvSpPr>
            <a:spLocks noGrp="1"/>
          </p:cNvSpPr>
          <p:nvPr>
            <p:ph type="ctrTitle"/>
          </p:nvPr>
        </p:nvSpPr>
        <p:spPr>
          <a:xfrm>
            <a:off x="640080" y="985234"/>
            <a:ext cx="5758628" cy="1235452"/>
          </a:xfrm>
        </p:spPr>
        <p:txBody>
          <a:bodyPr anchor="t">
            <a:noAutofit/>
          </a:bodyPr>
          <a:lstStyle/>
          <a:p>
            <a:r>
              <a:rPr lang="en-US" sz="11500" dirty="0">
                <a:solidFill>
                  <a:srgbClr val="FFFFFF"/>
                </a:solidFill>
                <a:latin typeface="Aharoni" panose="02010803020104030203" pitchFamily="2" charset="-79"/>
                <a:cs typeface="Aharoni" panose="02010803020104030203" pitchFamily="2" charset="-79"/>
              </a:rPr>
              <a:t>3</a:t>
            </a:r>
            <a:r>
              <a:rPr lang="en-US" sz="8000" dirty="0">
                <a:solidFill>
                  <a:srgbClr val="FFFFFF"/>
                </a:solidFill>
                <a:latin typeface="Aharoni" panose="02010803020104030203" pitchFamily="2" charset="-79"/>
                <a:cs typeface="Aharoni" panose="02010803020104030203" pitchFamily="2" charset="-79"/>
              </a:rPr>
              <a:t>D PRINTERS </a:t>
            </a:r>
          </a:p>
        </p:txBody>
      </p:sp>
      <p:sp>
        <p:nvSpPr>
          <p:cNvPr id="3" name="Subtitle 2">
            <a:extLst>
              <a:ext uri="{FF2B5EF4-FFF2-40B4-BE49-F238E27FC236}">
                <a16:creationId xmlns:a16="http://schemas.microsoft.com/office/drawing/2014/main" id="{C20B0A3F-8A0A-453A-BB3C-8DCFA691E5EC}"/>
              </a:ext>
            </a:extLst>
          </p:cNvPr>
          <p:cNvSpPr>
            <a:spLocks noGrp="1"/>
          </p:cNvSpPr>
          <p:nvPr>
            <p:ph type="subTitle" idx="1"/>
          </p:nvPr>
        </p:nvSpPr>
        <p:spPr>
          <a:xfrm>
            <a:off x="640080" y="5251621"/>
            <a:ext cx="4439920" cy="1104721"/>
          </a:xfrm>
        </p:spPr>
        <p:txBody>
          <a:bodyPr anchor="t">
            <a:normAutofit/>
          </a:bodyPr>
          <a:lstStyle/>
          <a:p>
            <a:r>
              <a:rPr lang="en-US">
                <a:solidFill>
                  <a:srgbClr val="FFFFFF"/>
                </a:solidFill>
              </a:rPr>
              <a:t>-Roselyn Selvam </a:t>
            </a:r>
          </a:p>
          <a:p>
            <a:endParaRPr lang="en-US">
              <a:solidFill>
                <a:srgbClr val="FFFFFF"/>
              </a:solidFill>
            </a:endParaRPr>
          </a:p>
        </p:txBody>
      </p:sp>
      <p:cxnSp>
        <p:nvCxnSpPr>
          <p:cNvPr id="11" name="Straight Connector 10">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047046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C3F7E-B76F-2406-FD3E-48D396858115}"/>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3D PRINTERS </a:t>
            </a:r>
          </a:p>
        </p:txBody>
      </p:sp>
      <p:sp>
        <p:nvSpPr>
          <p:cNvPr id="3" name="Content Placeholder 2">
            <a:extLst>
              <a:ext uri="{FF2B5EF4-FFF2-40B4-BE49-F238E27FC236}">
                <a16:creationId xmlns:a16="http://schemas.microsoft.com/office/drawing/2014/main" id="{BDB0C4E8-EDA8-66F5-198C-C57BB7ACF357}"/>
              </a:ext>
            </a:extLst>
          </p:cNvPr>
          <p:cNvSpPr>
            <a:spLocks noGrp="1"/>
          </p:cNvSpPr>
          <p:nvPr>
            <p:ph idx="1"/>
          </p:nvPr>
        </p:nvSpPr>
        <p:spPr>
          <a:xfrm>
            <a:off x="640080" y="2370236"/>
            <a:ext cx="10890928" cy="3566160"/>
          </a:xfrm>
        </p:spPr>
        <p:txBody>
          <a:bodyPr>
            <a:normAutofit fontScale="92500"/>
          </a:bodyPr>
          <a:lstStyle/>
          <a:p>
            <a:pPr algn="just"/>
            <a:r>
              <a:rPr lang="en-US" sz="2800" dirty="0">
                <a:latin typeface="Calibri" panose="020F0502020204030204" pitchFamily="34" charset="0"/>
                <a:cs typeface="Calibri" panose="020F0502020204030204" pitchFamily="34" charset="0"/>
              </a:rPr>
              <a:t>What? </a:t>
            </a:r>
          </a:p>
          <a:p>
            <a:pPr marL="0" indent="0" algn="just">
              <a:buNone/>
            </a:pPr>
            <a:r>
              <a:rPr lang="en-IN" sz="2800" b="0" i="0" u="none" strike="noStrike" dirty="0">
                <a:solidFill>
                  <a:srgbClr val="22445F"/>
                </a:solidFill>
                <a:effectLst/>
                <a:highlight>
                  <a:srgbClr val="FFFFFF"/>
                </a:highlight>
                <a:latin typeface="Calibri" panose="020F0502020204030204" pitchFamily="34" charset="0"/>
                <a:cs typeface="Calibri" panose="020F0502020204030204" pitchFamily="34" charset="0"/>
              </a:rPr>
              <a:t>3D printing is a method of making 3-dimensional objects by additive means based on digital models. The process of creating these 3D objects is called "printing." The term "3D printer" refers to the device which creates these objects. 3D printers are usually stand-alone devices that can be fed digital data and output physical objects. They find use in many fields and industries, including art, design, and engineering. They are Used for rapid prototyping </a:t>
            </a:r>
            <a:endParaRPr lang="en-US" sz="2800" dirty="0">
              <a:latin typeface="Calibri" panose="020F0502020204030204" pitchFamily="34" charset="0"/>
              <a:cs typeface="Calibri" panose="020F0502020204030204" pitchFamily="34" charset="0"/>
            </a:endParaRPr>
          </a:p>
        </p:txBody>
      </p:sp>
      <p:sp>
        <p:nvSpPr>
          <p:cNvPr id="4" name="Frame 3">
            <a:extLst>
              <a:ext uri="{FF2B5EF4-FFF2-40B4-BE49-F238E27FC236}">
                <a16:creationId xmlns:a16="http://schemas.microsoft.com/office/drawing/2014/main" id="{C75DB649-03AE-2B02-A458-97BC08B15B7C}"/>
              </a:ext>
            </a:extLst>
          </p:cNvPr>
          <p:cNvSpPr/>
          <p:nvPr/>
        </p:nvSpPr>
        <p:spPr>
          <a:xfrm>
            <a:off x="429491" y="2216727"/>
            <a:ext cx="11346873" cy="4142509"/>
          </a:xfrm>
          <a:prstGeom prst="frame">
            <a:avLst>
              <a:gd name="adj1"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59751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B418-A836-4DC8-6124-7B28882927B4}"/>
              </a:ext>
            </a:extLst>
          </p:cNvPr>
          <p:cNvSpPr>
            <a:spLocks noGrp="1"/>
          </p:cNvSpPr>
          <p:nvPr>
            <p:ph type="title"/>
          </p:nvPr>
        </p:nvSpPr>
        <p:spPr>
          <a:xfrm>
            <a:off x="696752" y="1067836"/>
            <a:ext cx="10890929" cy="1097280"/>
          </a:xfrm>
        </p:spPr>
        <p:txBody>
          <a:bodyPr/>
          <a:lstStyle/>
          <a:p>
            <a:r>
              <a:rPr lang="en-US" dirty="0">
                <a:latin typeface="Calibri" panose="020F0502020204030204" pitchFamily="34" charset="0"/>
                <a:cs typeface="Calibri" panose="020F0502020204030204" pitchFamily="34" charset="0"/>
              </a:rPr>
              <a:t>HOW DOES 3D PRINTING WORK AND WHY USE IT </a:t>
            </a:r>
          </a:p>
        </p:txBody>
      </p:sp>
      <p:sp>
        <p:nvSpPr>
          <p:cNvPr id="4" name="Rectangle 3">
            <a:extLst>
              <a:ext uri="{FF2B5EF4-FFF2-40B4-BE49-F238E27FC236}">
                <a16:creationId xmlns:a16="http://schemas.microsoft.com/office/drawing/2014/main" id="{8291AB95-B6E6-2D1D-FD2E-F2CFBEF53212}"/>
              </a:ext>
            </a:extLst>
          </p:cNvPr>
          <p:cNvSpPr/>
          <p:nvPr/>
        </p:nvSpPr>
        <p:spPr>
          <a:xfrm>
            <a:off x="696752" y="2152168"/>
            <a:ext cx="2092037" cy="9282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alibri" panose="020F0502020204030204" pitchFamily="34" charset="0"/>
                <a:cs typeface="Calibri" panose="020F0502020204030204" pitchFamily="34" charset="0"/>
              </a:rPr>
              <a:t>3D software</a:t>
            </a:r>
          </a:p>
        </p:txBody>
      </p:sp>
      <p:sp>
        <p:nvSpPr>
          <p:cNvPr id="8" name="Rectangle 7">
            <a:extLst>
              <a:ext uri="{FF2B5EF4-FFF2-40B4-BE49-F238E27FC236}">
                <a16:creationId xmlns:a16="http://schemas.microsoft.com/office/drawing/2014/main" id="{05446CAE-8350-4872-1FAD-41FB6EC49298}"/>
              </a:ext>
            </a:extLst>
          </p:cNvPr>
          <p:cNvSpPr/>
          <p:nvPr/>
        </p:nvSpPr>
        <p:spPr>
          <a:xfrm>
            <a:off x="4319716" y="2152168"/>
            <a:ext cx="3172692" cy="9282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alibri" panose="020F0502020204030204" pitchFamily="34" charset="0"/>
                <a:cs typeface="Calibri" panose="020F0502020204030204" pitchFamily="34" charset="0"/>
              </a:rPr>
              <a:t>Slicing: from file to 3D Printer </a:t>
            </a:r>
          </a:p>
        </p:txBody>
      </p:sp>
      <p:sp>
        <p:nvSpPr>
          <p:cNvPr id="9" name="Rectangle 8">
            <a:extLst>
              <a:ext uri="{FF2B5EF4-FFF2-40B4-BE49-F238E27FC236}">
                <a16:creationId xmlns:a16="http://schemas.microsoft.com/office/drawing/2014/main" id="{E036B245-9A43-416D-F986-87EC369FCF3C}"/>
              </a:ext>
            </a:extLst>
          </p:cNvPr>
          <p:cNvSpPr/>
          <p:nvPr/>
        </p:nvSpPr>
        <p:spPr>
          <a:xfrm>
            <a:off x="8926353" y="2152167"/>
            <a:ext cx="2604655" cy="9282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alibri" panose="020F0502020204030204" pitchFamily="34" charset="0"/>
                <a:cs typeface="Calibri" panose="020F0502020204030204" pitchFamily="34" charset="0"/>
              </a:rPr>
              <a:t>3D print layer by layer </a:t>
            </a:r>
          </a:p>
        </p:txBody>
      </p:sp>
      <p:cxnSp>
        <p:nvCxnSpPr>
          <p:cNvPr id="11" name="Straight Arrow Connector 10">
            <a:extLst>
              <a:ext uri="{FF2B5EF4-FFF2-40B4-BE49-F238E27FC236}">
                <a16:creationId xmlns:a16="http://schemas.microsoft.com/office/drawing/2014/main" id="{0AD23489-A378-4624-0465-82D6199FC16F}"/>
              </a:ext>
            </a:extLst>
          </p:cNvPr>
          <p:cNvCxnSpPr>
            <a:cxnSpLocks/>
            <a:stCxn id="4" idx="3"/>
            <a:endCxn id="8" idx="1"/>
          </p:cNvCxnSpPr>
          <p:nvPr/>
        </p:nvCxnSpPr>
        <p:spPr>
          <a:xfrm>
            <a:off x="2788789" y="2616296"/>
            <a:ext cx="15309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017EE8F-E530-AEA2-467A-F1CDECF00590}"/>
              </a:ext>
            </a:extLst>
          </p:cNvPr>
          <p:cNvCxnSpPr>
            <a:cxnSpLocks/>
            <a:endCxn id="9" idx="1"/>
          </p:cNvCxnSpPr>
          <p:nvPr/>
        </p:nvCxnSpPr>
        <p:spPr>
          <a:xfrm flipV="1">
            <a:off x="7492408" y="2616295"/>
            <a:ext cx="14339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2A32A46-544E-D0B9-7AA9-0E535196EC38}"/>
              </a:ext>
            </a:extLst>
          </p:cNvPr>
          <p:cNvSpPr txBox="1"/>
          <p:nvPr/>
        </p:nvSpPr>
        <p:spPr>
          <a:xfrm>
            <a:off x="640079" y="3553691"/>
            <a:ext cx="10834256" cy="3416320"/>
          </a:xfrm>
          <a:prstGeom prst="rect">
            <a:avLst/>
          </a:prstGeom>
          <a:noFill/>
        </p:spPr>
        <p:txBody>
          <a:bodyPr wrap="square" rtlCol="0">
            <a:spAutoFit/>
          </a:bodyPr>
          <a:lstStyle/>
          <a:p>
            <a:r>
              <a:rPr lang="en-US" sz="2400" dirty="0">
                <a:latin typeface="Calibri" panose="020F0502020204030204" pitchFamily="34" charset="0"/>
                <a:cs typeface="Calibri" panose="020F0502020204030204" pitchFamily="34" charset="0"/>
              </a:rPr>
              <a:t>Why ? </a:t>
            </a:r>
          </a:p>
          <a:p>
            <a:r>
              <a:rPr lang="en-US" sz="2400" dirty="0">
                <a:latin typeface="Calibri" panose="020F0502020204030204" pitchFamily="34" charset="0"/>
                <a:cs typeface="Calibri" panose="020F0502020204030204" pitchFamily="34" charset="0"/>
              </a:rPr>
              <a:t>3D printers are used for rapid prototyping because it’s fast and relatively cheap. From idea, to 3D model to holding a prototype in your hands is a matter of days instead of weeks. Iterations are easier and cheaper to make and you don’t need expensive molds or tools.</a:t>
            </a:r>
          </a:p>
          <a:p>
            <a:r>
              <a:rPr lang="en-US" sz="2400" dirty="0">
                <a:latin typeface="Calibri" panose="020F0502020204030204" pitchFamily="34" charset="0"/>
                <a:cs typeface="Calibri" panose="020F0502020204030204" pitchFamily="34" charset="0"/>
              </a:rPr>
              <a:t>Besides rapid prototyping, 3D printing is also used for rapid manufacturing. Rapid manufacturing is a new method of manufacturing where businesses use 3D printers for short run / small batch custom manufacturing.</a:t>
            </a:r>
          </a:p>
          <a:p>
            <a:endParaRPr lang="en-US" sz="2400" dirty="0">
              <a:latin typeface="Calibri" panose="020F0502020204030204" pitchFamily="34" charset="0"/>
              <a:cs typeface="Calibri" panose="020F0502020204030204" pitchFamily="34" charset="0"/>
            </a:endParaRPr>
          </a:p>
        </p:txBody>
      </p:sp>
      <p:sp>
        <p:nvSpPr>
          <p:cNvPr id="16" name="Frame 15">
            <a:extLst>
              <a:ext uri="{FF2B5EF4-FFF2-40B4-BE49-F238E27FC236}">
                <a16:creationId xmlns:a16="http://schemas.microsoft.com/office/drawing/2014/main" id="{3048B173-28D1-8DCE-1AE8-3E9338DC68D0}"/>
              </a:ext>
            </a:extLst>
          </p:cNvPr>
          <p:cNvSpPr/>
          <p:nvPr/>
        </p:nvSpPr>
        <p:spPr>
          <a:xfrm>
            <a:off x="429491" y="3400251"/>
            <a:ext cx="11346873" cy="3249931"/>
          </a:xfrm>
          <a:prstGeom prst="frame">
            <a:avLst>
              <a:gd name="adj1"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14539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08A9-D694-FB95-B478-5E1919C8BCFD}"/>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TYPES OF 3D PRINTING </a:t>
            </a:r>
          </a:p>
        </p:txBody>
      </p:sp>
      <p:sp>
        <p:nvSpPr>
          <p:cNvPr id="3" name="Content Placeholder 2">
            <a:extLst>
              <a:ext uri="{FF2B5EF4-FFF2-40B4-BE49-F238E27FC236}">
                <a16:creationId xmlns:a16="http://schemas.microsoft.com/office/drawing/2014/main" id="{97EC223B-06A8-2318-FCC1-889623F337C3}"/>
              </a:ext>
            </a:extLst>
          </p:cNvPr>
          <p:cNvSpPr>
            <a:spLocks noGrp="1"/>
          </p:cNvSpPr>
          <p:nvPr>
            <p:ph idx="1"/>
          </p:nvPr>
        </p:nvSpPr>
        <p:spPr>
          <a:xfrm>
            <a:off x="640079" y="2468881"/>
            <a:ext cx="5137265" cy="3730751"/>
          </a:xfrm>
        </p:spPr>
        <p:txBody>
          <a:bodyPr>
            <a:noAutofit/>
          </a:bodyPr>
          <a:lstStyle/>
          <a:p>
            <a:pPr marL="457200" indent="-457200">
              <a:buFont typeface="+mj-lt"/>
              <a:buAutoNum type="arabicPeriod"/>
            </a:pPr>
            <a:r>
              <a:rPr lang="en-IN" sz="2400" dirty="0" err="1">
                <a:effectLst/>
                <a:latin typeface="Calibri" panose="020F0502020204030204" pitchFamily="34" charset="0"/>
                <a:ea typeface="Aptos" panose="020B0004020202020204" pitchFamily="34" charset="0"/>
                <a:cs typeface="Calibri" panose="020F0502020204030204" pitchFamily="34" charset="0"/>
              </a:rPr>
              <a:t>Polyjet</a:t>
            </a:r>
            <a:r>
              <a:rPr lang="en-IN" sz="2400" dirty="0">
                <a:effectLst/>
                <a:latin typeface="Calibri" panose="020F0502020204030204" pitchFamily="34" charset="0"/>
                <a:ea typeface="Aptos" panose="020B0004020202020204" pitchFamily="34" charset="0"/>
                <a:cs typeface="Calibri" panose="020F0502020204030204" pitchFamily="34" charset="0"/>
              </a:rPr>
              <a:t> printing </a:t>
            </a:r>
            <a:endParaRPr lang="en-US" sz="2400" dirty="0">
              <a:effectLst/>
              <a:latin typeface="Calibri" panose="020F0502020204030204" pitchFamily="34" charset="0"/>
              <a:ea typeface="Aptos" panose="020B0004020202020204" pitchFamily="34" charset="0"/>
              <a:cs typeface="Calibri" panose="020F0502020204030204" pitchFamily="34" charset="0"/>
            </a:endParaRPr>
          </a:p>
          <a:p>
            <a:pPr marL="457200" indent="-457200">
              <a:buFont typeface="+mj-lt"/>
              <a:buAutoNum type="arabicPeriod"/>
            </a:pPr>
            <a:r>
              <a:rPr lang="en-IN" sz="2400" dirty="0">
                <a:effectLst/>
                <a:latin typeface="Calibri" panose="020F0502020204030204" pitchFamily="34" charset="0"/>
                <a:ea typeface="Aptos" panose="020B0004020202020204" pitchFamily="34" charset="0"/>
                <a:cs typeface="Calibri" panose="020F0502020204030204" pitchFamily="34" charset="0"/>
              </a:rPr>
              <a:t>Fused deposition modelling (FDM) </a:t>
            </a:r>
            <a:endParaRPr lang="en-US" sz="2400" dirty="0">
              <a:latin typeface="Calibri" panose="020F0502020204030204" pitchFamily="34" charset="0"/>
              <a:ea typeface="Aptos" panose="020B0004020202020204" pitchFamily="34" charset="0"/>
              <a:cs typeface="Calibri" panose="020F0502020204030204" pitchFamily="34" charset="0"/>
            </a:endParaRPr>
          </a:p>
          <a:p>
            <a:pPr marL="457200" indent="-457200">
              <a:buFont typeface="+mj-lt"/>
              <a:buAutoNum type="arabicPeriod"/>
            </a:pPr>
            <a:r>
              <a:rPr lang="en-IN" sz="2400" dirty="0">
                <a:effectLst/>
                <a:latin typeface="Calibri" panose="020F0502020204030204" pitchFamily="34" charset="0"/>
                <a:ea typeface="Aptos" panose="020B0004020202020204" pitchFamily="34" charset="0"/>
                <a:cs typeface="Calibri" panose="020F0502020204030204" pitchFamily="34" charset="0"/>
              </a:rPr>
              <a:t>Stereolithography (SLA) </a:t>
            </a:r>
          </a:p>
          <a:p>
            <a:pPr marL="457200" indent="-457200">
              <a:buFont typeface="+mj-lt"/>
              <a:buAutoNum type="arabicPeriod"/>
            </a:pPr>
            <a:r>
              <a:rPr lang="en-IN" sz="2400" dirty="0">
                <a:effectLst/>
                <a:latin typeface="Calibri" panose="020F0502020204030204" pitchFamily="34" charset="0"/>
                <a:ea typeface="Aptos" panose="020B0004020202020204" pitchFamily="34" charset="0"/>
                <a:cs typeface="Calibri" panose="020F0502020204030204" pitchFamily="34" charset="0"/>
              </a:rPr>
              <a:t>Selective Laser Sintering (SLS)</a:t>
            </a:r>
            <a:r>
              <a:rPr lang="en-IN" sz="2400" dirty="0">
                <a:effectLst/>
                <a:latin typeface="Calibri" panose="020F0502020204030204" pitchFamily="34" charset="0"/>
                <a:cs typeface="Calibri" panose="020F0502020204030204" pitchFamily="34" charset="0"/>
              </a:rPr>
              <a:t> </a:t>
            </a:r>
            <a:endParaRPr lang="en-IN" sz="2400" dirty="0">
              <a:latin typeface="Calibri" panose="020F0502020204030204" pitchFamily="34" charset="0"/>
              <a:cs typeface="Calibri" panose="020F0502020204030204" pitchFamily="34" charset="0"/>
            </a:endParaRPr>
          </a:p>
          <a:p>
            <a:pPr marL="457200" indent="-457200">
              <a:buFont typeface="+mj-lt"/>
              <a:buAutoNum type="arabicPeriod"/>
            </a:pPr>
            <a:r>
              <a:rPr lang="en-IN" sz="2400" dirty="0">
                <a:effectLst/>
                <a:latin typeface="Calibri" panose="020F0502020204030204" pitchFamily="34" charset="0"/>
                <a:ea typeface="Aptos" panose="020B0004020202020204" pitchFamily="34" charset="0"/>
                <a:cs typeface="Calibri" panose="020F0502020204030204" pitchFamily="34" charset="0"/>
              </a:rPr>
              <a:t>Multi-Jet Fusion (MJF) </a:t>
            </a:r>
          </a:p>
          <a:p>
            <a:pPr marL="457200" indent="-457200">
              <a:buFont typeface="+mj-lt"/>
              <a:buAutoNum type="arabicPeriod"/>
            </a:pPr>
            <a:r>
              <a:rPr lang="en-IN" sz="2400" dirty="0">
                <a:latin typeface="Calibri" panose="020F0502020204030204" pitchFamily="34" charset="0"/>
                <a:cs typeface="Calibri" panose="020F0502020204030204" pitchFamily="34" charset="0"/>
              </a:rPr>
              <a:t>Selective laser melting </a:t>
            </a:r>
            <a:endParaRPr lang="en-US" sz="24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A37A196-210D-FF96-EB73-E87E21469605}"/>
              </a:ext>
            </a:extLst>
          </p:cNvPr>
          <p:cNvSpPr txBox="1"/>
          <p:nvPr/>
        </p:nvSpPr>
        <p:spPr>
          <a:xfrm>
            <a:off x="6798114" y="2316481"/>
            <a:ext cx="5174750" cy="2799934"/>
          </a:xfrm>
          <a:prstGeom prst="rect">
            <a:avLst/>
          </a:prstGeom>
          <a:noFill/>
        </p:spPr>
        <p:txBody>
          <a:bodyPr wrap="none" rtlCol="0">
            <a:spAutoFit/>
          </a:bodyPr>
          <a:lstStyle/>
          <a:p>
            <a:pPr marL="457200" indent="-457200">
              <a:lnSpc>
                <a:spcPct val="150000"/>
              </a:lnSpc>
              <a:buFont typeface="+mj-lt"/>
              <a:buAutoNum type="arabicPeriod" startAt="6"/>
            </a:pPr>
            <a:r>
              <a:rPr lang="en-IN" sz="2400" dirty="0">
                <a:effectLst/>
                <a:latin typeface="Calibri" panose="020F0502020204030204" pitchFamily="34" charset="0"/>
                <a:ea typeface="Aptos" panose="020B0004020202020204" pitchFamily="34" charset="0"/>
                <a:cs typeface="Calibri" panose="020F0502020204030204" pitchFamily="34" charset="0"/>
              </a:rPr>
              <a:t>Direct Metal Laster Sintering (DMLS)</a:t>
            </a:r>
            <a:endParaRPr lang="en-IN" sz="2400" dirty="0">
              <a:latin typeface="Calibri" panose="020F0502020204030204" pitchFamily="34" charset="0"/>
              <a:cs typeface="Calibri" panose="020F0502020204030204" pitchFamily="34" charset="0"/>
            </a:endParaRPr>
          </a:p>
          <a:p>
            <a:pPr marL="457200" indent="-457200">
              <a:lnSpc>
                <a:spcPct val="150000"/>
              </a:lnSpc>
              <a:buFont typeface="+mj-lt"/>
              <a:buAutoNum type="arabicPeriod" startAt="6"/>
            </a:pPr>
            <a:r>
              <a:rPr lang="en-IN" sz="2400" dirty="0" err="1">
                <a:effectLst/>
                <a:latin typeface="Calibri" panose="020F0502020204030204" pitchFamily="34" charset="0"/>
                <a:ea typeface="Aptos" panose="020B0004020202020204" pitchFamily="34" charset="0"/>
                <a:cs typeface="Calibri" panose="020F0502020204030204" pitchFamily="34" charset="0"/>
              </a:rPr>
              <a:t>Eectron</a:t>
            </a:r>
            <a:r>
              <a:rPr lang="en-IN" sz="2400" dirty="0">
                <a:effectLst/>
                <a:latin typeface="Calibri" panose="020F0502020204030204" pitchFamily="34" charset="0"/>
                <a:ea typeface="Aptos" panose="020B0004020202020204" pitchFamily="34" charset="0"/>
                <a:cs typeface="Calibri" panose="020F0502020204030204" pitchFamily="34" charset="0"/>
              </a:rPr>
              <a:t> Beam Melting (EBM) </a:t>
            </a:r>
          </a:p>
          <a:p>
            <a:pPr marL="457200" indent="-457200">
              <a:lnSpc>
                <a:spcPct val="150000"/>
              </a:lnSpc>
              <a:buFont typeface="+mj-lt"/>
              <a:buAutoNum type="arabicPeriod" startAt="6"/>
            </a:pPr>
            <a:r>
              <a:rPr lang="en-IN" sz="2400" dirty="0">
                <a:effectLst/>
                <a:latin typeface="Calibri" panose="020F0502020204030204" pitchFamily="34" charset="0"/>
                <a:ea typeface="Aptos" panose="020B0004020202020204" pitchFamily="34" charset="0"/>
                <a:cs typeface="Calibri" panose="020F0502020204030204" pitchFamily="34" charset="0"/>
              </a:rPr>
              <a:t>Digital Light Process (DLP)</a:t>
            </a:r>
            <a:r>
              <a:rPr lang="en-IN" sz="2400" dirty="0">
                <a:effectLst/>
                <a:latin typeface="Calibri" panose="020F0502020204030204" pitchFamily="34" charset="0"/>
                <a:cs typeface="Calibri" panose="020F0502020204030204" pitchFamily="34" charset="0"/>
              </a:rPr>
              <a:t> </a:t>
            </a:r>
          </a:p>
          <a:p>
            <a:pPr marL="457200" indent="-457200">
              <a:lnSpc>
                <a:spcPct val="150000"/>
              </a:lnSpc>
              <a:buFont typeface="+mj-lt"/>
              <a:buAutoNum type="arabicPeriod" startAt="6"/>
            </a:pPr>
            <a:r>
              <a:rPr lang="en-IN" sz="2400" dirty="0">
                <a:latin typeface="Calibri" panose="020F0502020204030204" pitchFamily="34" charset="0"/>
                <a:cs typeface="Calibri" panose="020F0502020204030204" pitchFamily="34" charset="0"/>
              </a:rPr>
              <a:t>Selective laser melting </a:t>
            </a:r>
            <a:endParaRPr lang="en-US" sz="2400" dirty="0">
              <a:latin typeface="Calibri" panose="020F0502020204030204" pitchFamily="34" charset="0"/>
              <a:cs typeface="Calibri" panose="020F0502020204030204" pitchFamily="34" charset="0"/>
            </a:endParaRPr>
          </a:p>
          <a:p>
            <a:pPr marL="342900" indent="-342900">
              <a:lnSpc>
                <a:spcPct val="150000"/>
              </a:lnSpc>
              <a:buFont typeface="+mj-lt"/>
              <a:buAutoNum type="arabicPeriod" startAt="6"/>
            </a:pPr>
            <a:endParaRPr lang="en-US" sz="2400" dirty="0"/>
          </a:p>
        </p:txBody>
      </p:sp>
      <p:sp>
        <p:nvSpPr>
          <p:cNvPr id="5" name="Frame 4">
            <a:extLst>
              <a:ext uri="{FF2B5EF4-FFF2-40B4-BE49-F238E27FC236}">
                <a16:creationId xmlns:a16="http://schemas.microsoft.com/office/drawing/2014/main" id="{A7CA8EDF-5BAE-D60E-FCDA-91627DA6DDE2}"/>
              </a:ext>
            </a:extLst>
          </p:cNvPr>
          <p:cNvSpPr/>
          <p:nvPr/>
        </p:nvSpPr>
        <p:spPr>
          <a:xfrm>
            <a:off x="429491" y="2316481"/>
            <a:ext cx="11543373" cy="4042755"/>
          </a:xfrm>
          <a:prstGeom prst="frame">
            <a:avLst>
              <a:gd name="adj1"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44603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ABD0A-9CA1-9FFE-3C99-2B5FDA0B6541}"/>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TYPE OF MATERIAL USED </a:t>
            </a:r>
          </a:p>
        </p:txBody>
      </p:sp>
      <p:sp>
        <p:nvSpPr>
          <p:cNvPr id="3" name="Content Placeholder 2">
            <a:extLst>
              <a:ext uri="{FF2B5EF4-FFF2-40B4-BE49-F238E27FC236}">
                <a16:creationId xmlns:a16="http://schemas.microsoft.com/office/drawing/2014/main" id="{C2A40463-D74B-E006-15F2-94532EC0D5CF}"/>
              </a:ext>
            </a:extLst>
          </p:cNvPr>
          <p:cNvSpPr>
            <a:spLocks noGrp="1"/>
          </p:cNvSpPr>
          <p:nvPr>
            <p:ph idx="1"/>
          </p:nvPr>
        </p:nvSpPr>
        <p:spPr>
          <a:xfrm>
            <a:off x="640079" y="2468881"/>
            <a:ext cx="10890928" cy="3566160"/>
          </a:xfrm>
        </p:spPr>
        <p:txBody>
          <a:bodyPr>
            <a:noAutofit/>
          </a:bodyPr>
          <a:lstStyle/>
          <a:p>
            <a:pPr marL="0" indent="0">
              <a:buNone/>
            </a:pPr>
            <a:r>
              <a:rPr lang="en-US" sz="2400" dirty="0">
                <a:latin typeface="Calibri" panose="020F0502020204030204" pitchFamily="34" charset="0"/>
                <a:cs typeface="Calibri" panose="020F0502020204030204" pitchFamily="34" charset="0"/>
              </a:rPr>
              <a:t>Plastic and metal materials are used </a:t>
            </a:r>
          </a:p>
          <a:p>
            <a:pPr marL="514350" indent="-514350">
              <a:buFont typeface="+mj-lt"/>
              <a:buAutoNum type="romanUcPeriod"/>
            </a:pPr>
            <a:r>
              <a:rPr lang="en-US" sz="2400" dirty="0">
                <a:latin typeface="Calibri" panose="020F0502020204030204" pitchFamily="34" charset="0"/>
                <a:cs typeface="Calibri" panose="020F0502020204030204" pitchFamily="34" charset="0"/>
              </a:rPr>
              <a:t>Plastic :</a:t>
            </a:r>
          </a:p>
          <a:p>
            <a:r>
              <a:rPr lang="en-US" sz="2400" dirty="0">
                <a:latin typeface="Calibri" panose="020F0502020204030204" pitchFamily="34" charset="0"/>
                <a:cs typeface="Calibri" panose="020F0502020204030204" pitchFamily="34" charset="0"/>
              </a:rPr>
              <a:t>there are 2 types of plastics mainly used a) thermoplastics b) thermosetting plastics </a:t>
            </a:r>
          </a:p>
          <a:p>
            <a:r>
              <a:rPr lang="en-US" sz="2400" dirty="0">
                <a:latin typeface="Calibri" panose="020F0502020204030204" pitchFamily="34" charset="0"/>
                <a:cs typeface="Calibri" panose="020F0502020204030204" pitchFamily="34" charset="0"/>
              </a:rPr>
              <a:t>3D printers that use thermoplastics are FDM and SLS 3D printing  </a:t>
            </a:r>
          </a:p>
          <a:p>
            <a:r>
              <a:rPr lang="en-US" sz="2400" dirty="0">
                <a:latin typeface="Calibri" panose="020F0502020204030204" pitchFamily="34" charset="0"/>
                <a:cs typeface="Calibri" panose="020F0502020204030204" pitchFamily="34" charset="0"/>
              </a:rPr>
              <a:t>3D printers that use thermosetting plastics are SLA 3D printing </a:t>
            </a:r>
          </a:p>
          <a:p>
            <a:pPr marL="514350" indent="-514350">
              <a:buFont typeface="+mj-lt"/>
              <a:buAutoNum type="romanUcPeriod" startAt="2"/>
            </a:pPr>
            <a:r>
              <a:rPr lang="en-US" sz="2400" dirty="0">
                <a:latin typeface="Calibri" panose="020F0502020204030204" pitchFamily="34" charset="0"/>
                <a:cs typeface="Calibri" panose="020F0502020204030204" pitchFamily="34" charset="0"/>
              </a:rPr>
              <a:t>Metals : </a:t>
            </a:r>
          </a:p>
          <a:p>
            <a:r>
              <a:rPr lang="en-US" sz="2400" dirty="0">
                <a:latin typeface="Calibri" panose="020F0502020204030204" pitchFamily="34" charset="0"/>
                <a:cs typeface="Calibri" panose="020F0502020204030204" pitchFamily="34" charset="0"/>
              </a:rPr>
              <a:t>3D Printers that use metals are Metal FDM, SLM and DMLS 3D printing </a:t>
            </a:r>
          </a:p>
        </p:txBody>
      </p:sp>
      <p:sp>
        <p:nvSpPr>
          <p:cNvPr id="4" name="Frame 3">
            <a:extLst>
              <a:ext uri="{FF2B5EF4-FFF2-40B4-BE49-F238E27FC236}">
                <a16:creationId xmlns:a16="http://schemas.microsoft.com/office/drawing/2014/main" id="{244AA444-5125-82C3-9112-8091D005B418}"/>
              </a:ext>
            </a:extLst>
          </p:cNvPr>
          <p:cNvSpPr/>
          <p:nvPr/>
        </p:nvSpPr>
        <p:spPr>
          <a:xfrm>
            <a:off x="429491" y="2468881"/>
            <a:ext cx="11543373" cy="4042755"/>
          </a:xfrm>
          <a:prstGeom prst="frame">
            <a:avLst>
              <a:gd name="adj1"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94741504"/>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1222</TotalTime>
  <Words>321</Words>
  <Application>Microsoft Macintosh PowerPoint</Application>
  <PresentationFormat>Widescreen</PresentationFormat>
  <Paragraphs>31</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Aharoni</vt:lpstr>
      <vt:lpstr>Arial</vt:lpstr>
      <vt:lpstr>Calibri</vt:lpstr>
      <vt:lpstr>Grandview Display</vt:lpstr>
      <vt:lpstr>DashVTI</vt:lpstr>
      <vt:lpstr>3D PRINTERS </vt:lpstr>
      <vt:lpstr>3D PRINTERS </vt:lpstr>
      <vt:lpstr>HOW DOES 3D PRINTING WORK AND WHY USE IT </vt:lpstr>
      <vt:lpstr>TYPES OF 3D PRINTING </vt:lpstr>
      <vt:lpstr>TYPE OF MATERIAL USED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Christy Selvam</dc:creator>
  <cp:lastModifiedBy>Christy Selvam</cp:lastModifiedBy>
  <cp:revision>1</cp:revision>
  <dcterms:created xsi:type="dcterms:W3CDTF">2026-01-11T17:33:01Z</dcterms:created>
  <dcterms:modified xsi:type="dcterms:W3CDTF">2026-01-12T13:56:00Z</dcterms:modified>
</cp:coreProperties>
</file>